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49C9E8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E9ED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0.5%</c:v>
                  </c:pt>
                  <c:pt idx="1">
                    <c:v>1%</c:v>
                  </c:pt>
                  <c:pt idx="2">
                    <c:v>2%</c:v>
                  </c:pt>
                  <c:pt idx="3">
                    <c:v>5%</c:v>
                  </c:pt>
                  <c:pt idx="4">
                    <c:v>10%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75</c:v>
                </c:pt>
                <c:pt idx="3">
                  <c:v>30.5</c:v>
                </c:pt>
                <c:pt idx="4">
                  <c:v>15.3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34C48C"/>
            </a:solidFill>
            <a:effectLst/>
          </c:spPr>
          <c:invertIfNegative val="0"/>
          <c:dLbls>
            <c:numFmt formatCode="0.#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E9ED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0.5%</c:v>
                  </c:pt>
                  <c:pt idx="1">
                    <c:v>1%</c:v>
                  </c:pt>
                  <c:pt idx="2">
                    <c:v>2%</c:v>
                  </c:pt>
                  <c:pt idx="3">
                    <c:v>5%</c:v>
                  </c:pt>
                  <c:pt idx="4">
                    <c:v>10%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32.8</c:v>
                </c:pt>
                <c:pt idx="1">
                  <c:v>65.6</c:v>
                </c:pt>
                <c:pt idx="2">
                  <c:v>98.4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numFmt formatCode="0.#" sourceLinked="0"/>
          <c:txPr>
            <a:bodyPr/>
            <a:lstStyle/>
            <a:p>
              <a:pPr>
                <a:defRPr b="0" i="0" strike="noStrike" sz="850" u="none">
                  <a:solidFill>
                    <a:srgbClr val="E9ED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23050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291A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0"/>
        <c:axPos val="l"/>
        <c:majorGridlines>
          <c:spPr>
            <a:ln w="9525" cap="flat">
              <a:solidFill>
                <a:srgbClr val="22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22305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291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11D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291A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11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49C9E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9ED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txn_count_last_24h</c:v>
                  </c:pt>
                  <c:pt idx="1">
                    <c:v>is_new_device</c:v>
                  </c:pt>
                  <c:pt idx="2">
                    <c:v>time_since_last_txn_min</c:v>
                  </c:pt>
                  <c:pt idx="3">
                    <c:v>amount_vs_user_avg_ratio</c:v>
                  </c:pt>
                  <c:pt idx="4">
                    <c:v>recipient_account_age_days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0.023</c:v>
                </c:pt>
                <c:pt idx="1">
                  <c:v>0.036</c:v>
                </c:pt>
                <c:pt idx="2">
                  <c:v>0.173</c:v>
                </c:pt>
                <c:pt idx="3">
                  <c:v>0.356</c:v>
                </c:pt>
                <c:pt idx="4">
                  <c:v>0.588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E9ED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23050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8291A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22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23050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291A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11D"/>
        </a:solidFill>
        <a:ln>
          <a:noFill/>
        </a:ln>
        <a:effectLst/>
      </c:spPr>
    </c:plotArea>
    <c:plotVisOnly val="1"/>
    <c:dispBlanksAs val="span"/>
  </c:chart>
  <c:spPr>
    <a:solidFill>
      <a:srgbClr val="0B111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TrustRail — a fraud detection pipeline I built for mobile money transactions. Headline numbers: 0.987 precision-recall AUC, 95% recall, and a false positive rate under a fifth of one percent. Everything you'll see is built on synthetic data since real transaction data isn't something a portfolio project can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problem: fraud is rare — about one to two percent of transactions — but expensive to miss. That rarity is exactly why plain accuracy is useless here; a model that never flags anything still scores ninety-eight percent. So the whole system is designed around three constraints: catch it fast, stay precise, and explain every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built this as four independent stages. A synthetic transaction ledger with realistic, sometimes deliberately stealthy fraud patterns. Feature engineering with strict time-causality — no peeking at the future. A gradient-boosted risk model evaluated on a time-based split. And an explainability layer, which I'll show live in a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console — a live scanning ledger that scores transactions in real time, plus model performance panels and a case-review table analysts would actually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evaluation side: the confusion matrix shows fifty-eight of sixty-one fraud cases caught, only six false alarms out of thirty-nine hundred legitimate transactions. And precision-at-K shows the operational tradeoff — if analysts can only review the top one percent of transactions, they still catch two-thirds of all fraud.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importance turned up something genuinely useful: recipient account age and how the amount compares to the sender's own history matter far more than device signals. That's a real finding, not just a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part I actually wired up live: when you click a flagged transaction, the computed risk signals appear instantly, but then a real call goes out to the Claude API, which writes the analyst-facing explanation in natural language — not a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want to be upfront about the limits too — this is all synthetic data, the mule-detection feature is still weak, and I deliberately caught and fixed a too-perfect model score earlier because it was a red flag, not a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TrustRail end to end — Python and pandas for the pipeline, a gradient-boosted model, live Claude explainability, and a single-file console with no backend needed. Thanks for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MONEY · FRAUD DETECTION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TrustRail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2514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synthetic-data fraud detection pipeline for mobile money — feature engineering, a gradient-boosted risk model, and a </a:t>
            </a:r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Claude-powered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explainability layer.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05656"/>
            <a:ext cx="3246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9C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5074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AUC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test set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0" y="397764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4105656"/>
            <a:ext cx="3246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4C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95.1%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51960" y="5074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0.5 threshold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589520" y="3977640"/>
            <a:ext cx="3246120" cy="1554480"/>
          </a:xfrm>
          <a:prstGeom prst="roundRect">
            <a:avLst>
              <a:gd name="adj" fmla="val 4706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4105656"/>
            <a:ext cx="3246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44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726680" y="50749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6172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MVP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is rare, fast, and expensive to miss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931920" cy="4206240"/>
          </a:xfrm>
          <a:prstGeom prst="roundRect">
            <a:avLst>
              <a:gd name="adj" fmla="val 2326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0312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44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~1.5%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60120" y="33375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mobile money transactions are fraudulent — but a missed case can drain a customer's entire balance in minutes.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4846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predicts “not fraud” every time already scores 98%+ accuracy. Accuracy is the wrong metric.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92040" y="1737360"/>
            <a:ext cx="566928" cy="566928"/>
          </a:xfrm>
          <a:prstGeom prst="ellipse">
            <a:avLst/>
          </a:prstGeom>
          <a:solidFill>
            <a:srgbClr val="17213A"/>
          </a:solidFill>
          <a:ln w="15875">
            <a:solidFill>
              <a:srgbClr val="49C9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16824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it fast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69280" y="2048256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has to be scored before the transaction settles — the decision window is milliseconds, not hours.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3154680"/>
            <a:ext cx="566928" cy="566928"/>
          </a:xfrm>
          <a:prstGeom prst="ellipse">
            <a:avLst/>
          </a:prstGeom>
          <a:solidFill>
            <a:srgbClr val="17213A"/>
          </a:solidFill>
          <a:ln w="15875">
            <a:solidFill>
              <a:srgbClr val="49C9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154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309981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precise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3465576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block real customers. Every flag has an operational cost, not just a benefit.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92040" y="4572000"/>
            <a:ext cx="566928" cy="566928"/>
          </a:xfrm>
          <a:prstGeom prst="ellipse">
            <a:avLst/>
          </a:prstGeom>
          <a:solidFill>
            <a:srgbClr val="17213A"/>
          </a:solidFill>
          <a:ln w="15875">
            <a:solidFill>
              <a:srgbClr val="49C9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451713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every flag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69280" y="4882896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probability score isn't actionable — an analyst needs a reason before they act on it.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TRUSTRAIL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stages, one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stands in for real transaction logs — everything downstream is built the way it would be in production.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70048" cy="4160520"/>
          </a:xfrm>
          <a:prstGeom prst="roundRect">
            <a:avLst>
              <a:gd name="adj" fmla="val 3082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50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2715768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Ledger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41248" y="3447288"/>
            <a:ext cx="22677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transactions, 2,000 users, four injected fraud patterns — 30% deliberately stealthy to avoid a trivially separable dataset.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41248" y="5742432"/>
            <a:ext cx="2267712" cy="0"/>
          </a:xfrm>
          <a:prstGeom prst="line">
            <a:avLst/>
          </a:prstGeom>
          <a:noFill/>
          <a:ln w="12700">
            <a:solidFill>
              <a:srgbClr val="22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585216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· pandas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11296" y="2148840"/>
            <a:ext cx="2670048" cy="4160520"/>
          </a:xfrm>
          <a:prstGeom prst="roundRect">
            <a:avLst>
              <a:gd name="adj" fmla="val 3082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2350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12464" y="2715768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712464" y="3447288"/>
            <a:ext cx="22677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per-user &amp; per-recipient windows computed with strict time-causality — velocity, amount z-scores, device/SIM flags.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12464" y="5742432"/>
            <a:ext cx="2267712" cy="0"/>
          </a:xfrm>
          <a:prstGeom prst="line">
            <a:avLst/>
          </a:prstGeom>
          <a:noFill/>
          <a:ln w="12700">
            <a:solidFill>
              <a:srgbClr val="2230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12464" y="585216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bisect · rolling windows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82512" y="2148840"/>
            <a:ext cx="2670048" cy="4160520"/>
          </a:xfrm>
          <a:prstGeom prst="roundRect">
            <a:avLst>
              <a:gd name="adj" fmla="val 3082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350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715768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Model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583680" y="3447288"/>
            <a:ext cx="22677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trees, time-based train/test split, evaluated on precision-recall and precision@K — not plain accuracy.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5742432"/>
            <a:ext cx="2267712" cy="0"/>
          </a:xfrm>
          <a:prstGeom prst="line">
            <a:avLst/>
          </a:prstGeom>
          <a:noFill/>
          <a:ln w="12700">
            <a:solidFill>
              <a:srgbClr val="223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585216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XGBoost-class model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253728" y="2148840"/>
            <a:ext cx="2670048" cy="4160520"/>
          </a:xfrm>
          <a:prstGeom prst="roundRect">
            <a:avLst>
              <a:gd name="adj" fmla="val 3082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54896" y="2350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54896" y="2715768"/>
            <a:ext cx="2267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454896" y="3447288"/>
            <a:ext cx="226771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flagged case gets a live, plain-language reasoning summary — the layer an analyst actually reads before acting.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454896" y="5742432"/>
            <a:ext cx="2267712" cy="0"/>
          </a:xfrm>
          <a:prstGeom prst="line">
            <a:avLst/>
          </a:prstGeom>
          <a:noFill/>
          <a:ln w="12700">
            <a:solidFill>
              <a:srgbClr val="2230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454896" y="5852160"/>
            <a:ext cx="2267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— live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TRUSTRAIL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CONSOLE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transaction gets scored</a:t>
            </a:r>
            <a:endParaRPr lang="en-US" sz="2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it settles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monitoring console — a live scanning ledger, model performance panels, and an interactive case-review table with a real Claude-generated analyst note.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050792"/>
            <a:ext cx="73152" cy="73152"/>
          </a:xfrm>
          <a:prstGeom prst="ellipse">
            <a:avLst/>
          </a:prstGeom>
          <a:solidFill>
            <a:srgbClr val="49C9E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39044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transaction feed, scored in real time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4507992"/>
            <a:ext cx="73152" cy="73152"/>
          </a:xfrm>
          <a:prstGeom prst="ellipse">
            <a:avLst/>
          </a:prstGeom>
          <a:solidFill>
            <a:srgbClr val="49C9E8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3616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&amp; precision@K evaluation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965192"/>
            <a:ext cx="73152" cy="73152"/>
          </a:xfrm>
          <a:prstGeom prst="ellipse">
            <a:avLst/>
          </a:prstGeom>
          <a:solidFill>
            <a:srgbClr val="49C9E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8188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case review with risk gauge</a:t>
            </a:r>
            <a:endParaRPr lang="en-US" sz="1250" dirty="0"/>
          </a:p>
        </p:txBody>
      </p:sp>
      <p:pic>
        <p:nvPicPr>
          <p:cNvPr id="11" name="Image 0" descr="slide_ledg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051560"/>
            <a:ext cx="5989320" cy="453078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TRUSTRAIL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Evaluated the way fraud actually gets caught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set: 4,000 transactions, 61 actual fraud cases · time-based 80/20 split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122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4C4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3,933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6791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cleared correctly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1965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2112264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10712" y="26791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10712" y="29260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547872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69417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4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" y="42611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507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missed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10712" y="3547872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10712" y="3694176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448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10712" y="426110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10712" y="4507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caught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63640" y="1965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@ Top-K% Flagged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126480" y="2331720"/>
          <a:ext cx="5486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45720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TRUSTRAIL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the risk score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— the drop in average precision when a feature is shuffled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2880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2194560"/>
            <a:ext cx="3794760" cy="3017520"/>
          </a:xfrm>
          <a:prstGeom prst="roundRect">
            <a:avLst>
              <a:gd name="adj" fmla="val 2727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2423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92440" y="27889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money is going, and how it compares to the sender's own history, matters far more than raw amount or device signals alone.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92440" y="4160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should inform where future feature engineering effort goes — deeper recipient-network features, not more device fingerprinting.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TRUSTRAIL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EXPLAINABILITY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explains every flag,</a:t>
            </a:r>
            <a:endParaRPr lang="en-US" sz="26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top features are computed instantly as “Signals.” Selecting a case then fires a real call to the Claude API, which writes the analyst-facing explanation in natural language — not a canned template.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4846320" cy="1691640"/>
          </a:xfrm>
          <a:prstGeom prst="roundRect">
            <a:avLst>
              <a:gd name="adj" fmla="val 4324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3708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NEEDED HERE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466344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artifact environment proxies the call. A deployed version would need a small backend holding the Anthropic API key instead.</a:t>
            </a:r>
            <a:endParaRPr lang="en-US" sz="1150" dirty="0"/>
          </a:p>
        </p:txBody>
      </p:sp>
      <p:pic>
        <p:nvPicPr>
          <p:cNvPr id="8" name="Image 0" descr="slide_detail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2230" y="1005840"/>
            <a:ext cx="3183490" cy="5257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TRUSTRAIL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HONEST ASSESSMENT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real, and what's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4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914400"/>
          </a:xfrm>
          <a:prstGeom prst="roundRect">
            <a:avLst>
              <a:gd name="adj" fmla="val 7000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103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synthetic — no real platform data used or claimed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5212080" cy="914400"/>
          </a:xfrm>
          <a:prstGeom prst="roundRect">
            <a:avLst>
              <a:gd name="adj" fmla="val 7000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200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Mule-network detection needs a longer-horizon graph feature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4297680"/>
            <a:ext cx="5212080" cy="914400"/>
          </a:xfrm>
          <a:prstGeom prst="roundRect">
            <a:avLst>
              <a:gd name="adj" fmla="val 7000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2976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near-perfect score on an earlier dataset was treated as a red flag and fixed, not shipped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0936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103120"/>
            <a:ext cx="5212080" cy="914400"/>
          </a:xfrm>
          <a:prstGeom prst="roundRect">
            <a:avLst>
              <a:gd name="adj" fmla="val 7000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21031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recipient/network features for mule detection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3200400"/>
            <a:ext cx="5212080" cy="914400"/>
          </a:xfrm>
          <a:prstGeom prst="roundRect">
            <a:avLst>
              <a:gd name="adj" fmla="val 7000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0528" y="3200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feature store to replace batch CSV pipeline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4297680"/>
            <a:ext cx="5212080" cy="914400"/>
          </a:xfrm>
          <a:prstGeom prst="roundRect">
            <a:avLst>
              <a:gd name="adj" fmla="val 7000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42976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proxy so the Claude explainability call works outside the artifact environment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TRUSTRAIL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005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574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C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Features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66160" y="20574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numpy · bisect-based rolling windows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990088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9008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C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66160" y="2990088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trees (XGBoost-class) · scikit-learn evaluation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22776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922776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C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922776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— live analyst note generation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855464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121A2B"/>
          </a:solidFill>
          <a:ln w="12700">
            <a:solidFill>
              <a:srgbClr val="223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85546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9C9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4855464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HTML/CSS/JS — no build step, no server dependency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2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TrustRail — a portfolio fraud-detection MVP demonstrating pipeline architecture, evaluation discipline, and live explainability.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4710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TRUSTRAIL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2026-08-11T02:45:39Z</dcterms:created>
  <dcterms:modified xsi:type="dcterms:W3CDTF">2026-08-11T02:45:39Z</dcterms:modified>
</cp:coreProperties>
</file>